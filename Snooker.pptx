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51" r:id="rId1"/>
  </p:sldMasterIdLst>
  <p:sldIdLst>
    <p:sldId id="256" r:id="rId2"/>
    <p:sldId id="257" r:id="rId3"/>
    <p:sldId id="258" r:id="rId4"/>
    <p:sldId id="259" r:id="rId5"/>
    <p:sldId id="260" r:id="rId6"/>
    <p:sldId id="262" r:id="rId7"/>
    <p:sldId id="263" r:id="rId8"/>
    <p:sldId id="261" r:id="rId9"/>
  </p:sldIdLst>
  <p:sldSz cx="12192000" cy="6858000"/>
  <p:notesSz cx="6858000" cy="91440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EEE699B-A6E6-48F5-B588-B3C25135AA30}" v="160" dt="2025-11-29T16:32:16.52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75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59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microsoft.com/office/2015/10/relationships/revisionInfo" Target="revisionInfo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4" y="3085764"/>
            <a:ext cx="11298932" cy="3338149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hu-HU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effectLst/>
        </p:spPr>
        <p:txBody>
          <a:bodyPr anchor="b">
            <a:normAutofit/>
          </a:bodyPr>
          <a:lstStyle>
            <a:lvl1pPr>
              <a:defRPr sz="36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</p:spPr>
        <p:txBody>
          <a:bodyPr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7FA0ACE7-29A8-47D3-A7D9-257B711D80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91B17-9318-49DB-B28B-6E5994AE9581}" type="datetime1">
              <a:rPr lang="en-US" smtClean="0"/>
              <a:t>11/30/2025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DEC604B9-52E9-4810-8359-47206518D0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5898A89F-CA25-400F-B05A-AECBF2517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425367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18872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2340864"/>
            <a:ext cx="11029615" cy="363448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770E6237-3456-439F-802D-3BA93FC7E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DD82B9-B8EE-4375-B6FF-88FA6ABB15D9}" type="datetime1">
              <a:rPr lang="en-US" smtClean="0"/>
              <a:t>11/30/2025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1356D3B5-6063-4A89-B88F-9D3043916F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2B78BF7-69D3-4CE0-A631-50EFD41EEE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253109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2393950"/>
            <a:ext cx="11029615" cy="2147467"/>
          </a:xfrm>
        </p:spPr>
        <p:txBody>
          <a:bodyPr anchor="b">
            <a:normAutofit/>
          </a:bodyPr>
          <a:lstStyle>
            <a:lvl1pPr algn="l">
              <a:defRPr sz="3600" b="0" cap="all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</p:spPr>
        <p:txBody>
          <a:bodyPr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1582016-5696-4A93-887F-BBB3B9002F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497495-0637-405E-AE64-5CC7506D51F5}" type="datetime1">
              <a:rPr lang="en-US" smtClean="0"/>
              <a:t>11/30/2025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57CFCD5-1192-4E18-8A8F-29E153B44D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E39A109E-5018-4794-92B3-FD5E5BCD95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95195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1193" y="2228003"/>
            <a:ext cx="5194767" cy="363304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6039" y="2228003"/>
            <a:ext cx="5194769" cy="363304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FFD690-9426-415D-8B65-26881E07B2D4}" type="datetime1">
              <a:rPr lang="en-US" smtClean="0"/>
              <a:t>11/30/2025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219444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1" y="2250891"/>
            <a:ext cx="5194769" cy="557784"/>
          </a:xfrm>
        </p:spPr>
        <p:txBody>
          <a:bodyPr anchor="ctr">
            <a:noAutofit/>
          </a:bodyPr>
          <a:lstStyle>
            <a:lvl1pPr marL="0" indent="0">
              <a:buNone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1194" y="2926052"/>
            <a:ext cx="5194766" cy="2934999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16039" y="2250892"/>
            <a:ext cx="5194770" cy="553373"/>
          </a:xfrm>
        </p:spPr>
        <p:txBody>
          <a:bodyPr anchor="ctr">
            <a:noAutofit/>
          </a:bodyPr>
          <a:lstStyle>
            <a:lvl1pPr marL="0" marR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None/>
              <a:tabLst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None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16037" y="2926052"/>
            <a:ext cx="5194771" cy="2934999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C4989A-474C-40DE-95B9-011C28B71673}" type="datetime1">
              <a:rPr lang="en-US" smtClean="0"/>
              <a:t>11/30/2025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7948956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B4ED54-5B5E-4A04-93D3-5772E3CE3818}" type="datetime1">
              <a:rPr lang="en-US" smtClean="0"/>
              <a:t>11/30/2025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741858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DE50D6-574B-40AF-946F-D52A04ADE379}" type="datetime1">
              <a:rPr lang="en-US" smtClean="0"/>
              <a:t>11/30/2025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88776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7" y="601200"/>
            <a:ext cx="3682723" cy="5815475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7857" y="933450"/>
            <a:ext cx="3031852" cy="1722419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900928" y="1179829"/>
            <a:ext cx="6650991" cy="4658216"/>
          </a:xfrm>
        </p:spPr>
        <p:txBody>
          <a:bodyPr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67857" y="2836654"/>
            <a:ext cx="3031852" cy="3001392"/>
          </a:xfrm>
        </p:spPr>
        <p:txBody>
          <a:bodyPr anchor="t">
            <a:normAutofit/>
          </a:bodyPr>
          <a:lstStyle>
            <a:lvl1pPr marL="0" indent="0" algn="l">
              <a:buNone/>
              <a:defRPr sz="1600">
                <a:solidFill>
                  <a:srgbClr val="FFFFFF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0B919CC2-2A65-446F-B538-9E624903544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05951" y="6456916"/>
            <a:ext cx="2844799" cy="365125"/>
          </a:xfrm>
        </p:spPr>
        <p:txBody>
          <a:bodyPr/>
          <a:lstStyle/>
          <a:p>
            <a:fld id="{D82884F1-FFEA-405F-9602-3DCA865EDA4E}" type="datetime1">
              <a:rPr lang="en-US" smtClean="0"/>
              <a:t>11/30/2025</a:t>
            </a:fld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B72412AE-119E-4982-8B24-63365EFCA7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81192" y="6452590"/>
            <a:ext cx="6917210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7FC4BB19-6AD1-45CF-9F99-00B109890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58300" y="6456916"/>
            <a:ext cx="1052510" cy="365125"/>
          </a:xfrm>
        </p:spPr>
        <p:txBody>
          <a:bodyPr/>
          <a:lstStyle/>
          <a:p>
            <a:fld id="{3A98EE3D-8CD1-4C3F-BD1C-C98C959646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7685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7817" y="641350"/>
            <a:ext cx="11290859" cy="3651249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192" y="5260127"/>
            <a:ext cx="11029617" cy="998148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8DB4A-8810-4A10-AD5C-D5E2C667F5B3}" type="datetime1">
              <a:rPr lang="en-US" smtClean="0"/>
              <a:t>11/30/2025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078054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ED4963-E985-44C4-B8C4-FDD613B7C2F8}" type="datetime1">
              <a:rPr lang="en-US" smtClean="0"/>
              <a:t>11/30/2025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941024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058151" y="599725"/>
            <a:ext cx="3687316" cy="5816950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204200" y="863600"/>
            <a:ext cx="3124200" cy="4807326"/>
          </a:xfrm>
        </p:spPr>
        <p:txBody>
          <a:bodyPr vert="eaVert" anchor="ctr"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4923" y="863600"/>
            <a:ext cx="7161625" cy="4807326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6423B97-A5D4-47B9-8861-73B3707A04CF}"/>
              </a:ext>
            </a:extLst>
          </p:cNvPr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AEC0421-37B4-4481-A10D-69FDF5EC7909}"/>
              </a:ext>
            </a:extLst>
          </p:cNvPr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F7265B5-9F97-4F1E-99E9-74F7B7E62337}"/>
              </a:ext>
            </a:extLst>
          </p:cNvPr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5C74A470-3BD3-4F33-80E5-67E6E87FCB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91B17-9318-49DB-B28B-6E5994AE9581}" type="datetime1">
              <a:rPr lang="en-US" smtClean="0"/>
              <a:t>11/30/2025</a:t>
            </a:fld>
            <a:endParaRPr lang="en-US" dirty="0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9A3A30BA-DB50-4D7D-BCDE-17D20FB354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76FF9E58-C0B2-436B-A21C-DB45A00D65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7760294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2336002"/>
            <a:ext cx="11029616" cy="365204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05951" y="6423914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ED291B17-9318-49DB-B28B-6E5994AE9581}" type="datetime1">
              <a:rPr lang="en-US" smtClean="0"/>
              <a:t>11/30/2025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81192" y="6423914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cap="all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58300" y="6423914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hu-HU"/>
          </a:p>
        </p:txBody>
      </p:sp>
      <p:sp>
        <p:nvSpPr>
          <p:cNvPr id="10" name="Rectangle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hu-HU"/>
          </a:p>
        </p:txBody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51369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6" r:id="rId1"/>
    <p:sldLayoutId id="2147483747" r:id="rId2"/>
    <p:sldLayoutId id="2147483748" r:id="rId3"/>
    <p:sldLayoutId id="2147483749" r:id="rId4"/>
    <p:sldLayoutId id="2147483750" r:id="rId5"/>
    <p:sldLayoutId id="2147483744" r:id="rId6"/>
    <p:sldLayoutId id="2147483740" r:id="rId7"/>
    <p:sldLayoutId id="2147483741" r:id="rId8"/>
    <p:sldLayoutId id="2147483742" r:id="rId9"/>
    <p:sldLayoutId id="2147483743" r:id="rId10"/>
    <p:sldLayoutId id="2147483745" r:id="rId11"/>
  </p:sldLayoutIdLst>
  <p:hf sldNum="0" hdr="0" ftr="0" dt="0"/>
  <p:txStyles>
    <p:titleStyle>
      <a:lvl1pPr algn="l" defTabSz="457200" rtl="0" eaLnBrk="1" latinLnBrk="0" hangingPunct="1">
        <a:lnSpc>
          <a:spcPct val="90000"/>
        </a:lnSpc>
        <a:spcBef>
          <a:spcPct val="0"/>
        </a:spcBef>
        <a:buNone/>
        <a:defRPr sz="4400" b="0" kern="1200" cap="all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lnSpc>
          <a:spcPct val="120000"/>
        </a:lnSpc>
        <a:spcBef>
          <a:spcPct val="20000"/>
        </a:spcBef>
        <a:spcAft>
          <a:spcPts val="6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5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lnSpc>
          <a:spcPct val="120000"/>
        </a:lnSpc>
        <a:spcBef>
          <a:spcPct val="20000"/>
        </a:spcBef>
        <a:spcAft>
          <a:spcPts val="6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3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lnSpc>
          <a:spcPct val="120000"/>
        </a:lnSpc>
        <a:spcBef>
          <a:spcPct val="20000"/>
        </a:spcBef>
        <a:spcAft>
          <a:spcPts val="6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lnSpc>
          <a:spcPct val="120000"/>
        </a:lnSpc>
        <a:spcBef>
          <a:spcPct val="20000"/>
        </a:spcBef>
        <a:spcAft>
          <a:spcPts val="6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1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lnSpc>
          <a:spcPct val="120000"/>
        </a:lnSpc>
        <a:spcBef>
          <a:spcPct val="20000"/>
        </a:spcBef>
        <a:spcAft>
          <a:spcPts val="6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1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E08D4B6A-8113-4DFB-B82E-B60CAC8E0A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Gill Sans MT" panose="020B0502020104020203"/>
              <a:ea typeface="+mn-ea"/>
              <a:cs typeface="+mn-cs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822E561-F97C-4CBB-A9A6-A6BF6317BC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Cím 1"/>
          <p:cNvSpPr>
            <a:spLocks noGrp="1"/>
          </p:cNvSpPr>
          <p:nvPr>
            <p:ph type="ctrTitle"/>
          </p:nvPr>
        </p:nvSpPr>
        <p:spPr>
          <a:xfrm>
            <a:off x="638620" y="863695"/>
            <a:ext cx="3511233" cy="3779995"/>
          </a:xfrm>
        </p:spPr>
        <p:txBody>
          <a:bodyPr anchor="ctr">
            <a:normAutofit/>
          </a:bodyPr>
          <a:lstStyle/>
          <a:p>
            <a:r>
              <a:rPr lang="hu-HU" dirty="0">
                <a:solidFill>
                  <a:schemeClr val="tx1"/>
                </a:solidFill>
              </a:rPr>
              <a:t>Snooker</a:t>
            </a:r>
            <a:endParaRPr lang="hu-HU" dirty="0"/>
          </a:p>
        </p:txBody>
      </p:sp>
      <p:sp>
        <p:nvSpPr>
          <p:cNvPr id="3" name="Alcím 2"/>
          <p:cNvSpPr>
            <a:spLocks noGrp="1"/>
          </p:cNvSpPr>
          <p:nvPr>
            <p:ph type="subTitle" idx="1"/>
          </p:nvPr>
        </p:nvSpPr>
        <p:spPr>
          <a:xfrm>
            <a:off x="638621" y="4739780"/>
            <a:ext cx="3511233" cy="1147054"/>
          </a:xfrm>
        </p:spPr>
        <p:txBody>
          <a:bodyPr anchor="t">
            <a:normAutofit fontScale="92500"/>
          </a:bodyPr>
          <a:lstStyle/>
          <a:p>
            <a:r>
              <a:rPr lang="hu-HU" sz="2200" dirty="0" err="1"/>
              <a:t>Csipak</a:t>
            </a:r>
            <a:r>
              <a:rPr lang="hu-HU" sz="2200" dirty="0"/>
              <a:t> Erik, </a:t>
            </a:r>
            <a:r>
              <a:rPr lang="hu-HU" sz="2200" dirty="0" err="1"/>
              <a:t>Raucsik</a:t>
            </a:r>
            <a:r>
              <a:rPr lang="hu-HU" sz="2200" dirty="0"/>
              <a:t> </a:t>
            </a:r>
            <a:r>
              <a:rPr lang="hu-HU" sz="2200" dirty="0" err="1"/>
              <a:t>attila</a:t>
            </a:r>
            <a:r>
              <a:rPr lang="hu-HU" sz="2200" dirty="0"/>
              <a:t>, Beszédes </a:t>
            </a:r>
            <a:r>
              <a:rPr lang="hu-HU" sz="2200" dirty="0" err="1"/>
              <a:t>bence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01B0E58-A5C8-4CDA-A2E0-35DF94E59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38620" y="457200"/>
            <a:ext cx="3511233" cy="91439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4" name="Picture 3" descr="Spheres fehér effektus">
            <a:extLst>
              <a:ext uri="{FF2B5EF4-FFF2-40B4-BE49-F238E27FC236}">
                <a16:creationId xmlns:a16="http://schemas.microsoft.com/office/drawing/2014/main" id="{9D879D27-36DA-1D6F-7224-A8D725C3E6C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6495" r="-10" b="-10"/>
          <a:stretch>
            <a:fillRect/>
          </a:stretch>
        </p:blipFill>
        <p:spPr>
          <a:xfrm>
            <a:off x="4654295" y="10"/>
            <a:ext cx="7537705" cy="6857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674847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E6C8E6EB-4C59-429B-97E4-72A058CFC4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hu-HU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5B90362-AFCC-46A9-B41C-A257A8C5B3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hu-HU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71EF7F1-38BA-471D-8CD4-2A9AE8E355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hu-HU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BB56EB9-078F-4952-AC1F-149C7A0AE4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3772EE4-ED5E-4D3A-A306-B22CF86678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6534" y="601200"/>
            <a:ext cx="3703320" cy="5789365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D5A2370A-E440-3469-CA32-3FA7C74E81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2280" y="944752"/>
            <a:ext cx="3259016" cy="1462692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2800" b="0" kern="1200" cap="all">
                <a:latin typeface="+mj-lt"/>
                <a:ea typeface="+mj-ea"/>
                <a:cs typeface="+mj-cs"/>
              </a:rPr>
              <a:t>A csapat szerveződése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0058680-D07C-4893-B2B7-91543F18AB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7B42427A-0A1F-4A55-8705-D9179F1E0C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E54A6FE-D8CB-48A3-900B-053D4EBD3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36BFE3D7-FC16-D94D-5558-D6B98768CEE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71513" y="2536031"/>
            <a:ext cx="3123783" cy="367193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285750" indent="-285750">
              <a:buFont typeface="Calibri" panose="05020102010507070707" pitchFamily="18" charset="2"/>
              <a:buChar char="-"/>
            </a:pPr>
            <a:r>
              <a:rPr lang="en-US" dirty="0" err="1"/>
              <a:t>Csipak</a:t>
            </a:r>
            <a:r>
              <a:rPr lang="en-US" dirty="0"/>
              <a:t> Erik - </a:t>
            </a:r>
            <a:r>
              <a:rPr lang="en-US" dirty="0" err="1"/>
              <a:t>Labdák</a:t>
            </a:r>
            <a:r>
              <a:rPr lang="en-US" dirty="0"/>
              <a:t> </a:t>
            </a:r>
            <a:r>
              <a:rPr lang="en-US" dirty="0" err="1"/>
              <a:t>szegmentálása</a:t>
            </a:r>
            <a:r>
              <a:rPr lang="en-US" dirty="0"/>
              <a:t>, </a:t>
            </a:r>
            <a:r>
              <a:rPr lang="en-US" dirty="0" err="1"/>
              <a:t>pozíciók</a:t>
            </a:r>
            <a:r>
              <a:rPr lang="en-US" dirty="0"/>
              <a:t> </a:t>
            </a:r>
            <a:r>
              <a:rPr lang="en-US" dirty="0" err="1"/>
              <a:t>mapbe</a:t>
            </a:r>
            <a:r>
              <a:rPr lang="en-US" dirty="0"/>
              <a:t> </a:t>
            </a:r>
            <a:r>
              <a:rPr lang="en-US" dirty="0" err="1"/>
              <a:t>gyűjtése</a:t>
            </a:r>
            <a:endParaRPr lang="hu-HU" dirty="0" err="1"/>
          </a:p>
          <a:p>
            <a:pPr marL="285750" indent="-285750">
              <a:buFont typeface="Calibri" panose="05020102010507070707" pitchFamily="18" charset="2"/>
              <a:buChar char="-"/>
            </a:pPr>
            <a:r>
              <a:rPr lang="en-US" dirty="0"/>
              <a:t>Raucsik Attila - </a:t>
            </a:r>
            <a:r>
              <a:rPr lang="hu-HU" dirty="0"/>
              <a:t>játékszabályok, pontozás megvalósítása</a:t>
            </a:r>
            <a:endParaRPr lang="en-US" dirty="0" err="1"/>
          </a:p>
          <a:p>
            <a:pPr marL="285750" indent="-285750">
              <a:buFont typeface="Calibri" panose="05020102010507070707" pitchFamily="18" charset="2"/>
              <a:buChar char="-"/>
            </a:pPr>
            <a:r>
              <a:rPr lang="en-US" dirty="0"/>
              <a:t>Beszédes Bence – </a:t>
            </a:r>
            <a:r>
              <a:rPr lang="en-US" dirty="0" err="1"/>
              <a:t>körváltás</a:t>
            </a:r>
            <a:r>
              <a:rPr lang="en-US" dirty="0"/>
              <a:t> </a:t>
            </a:r>
            <a:r>
              <a:rPr lang="en-US" dirty="0" err="1"/>
              <a:t>funkcionalitás</a:t>
            </a:r>
            <a:r>
              <a:rPr lang="en-US" dirty="0"/>
              <a:t> </a:t>
            </a:r>
            <a:r>
              <a:rPr lang="en-US" dirty="0" err="1"/>
              <a:t>megvalósítása</a:t>
            </a:r>
            <a:endParaRPr lang="en-US" i="1" dirty="0" err="1"/>
          </a:p>
        </p:txBody>
      </p:sp>
      <p:pic>
        <p:nvPicPr>
          <p:cNvPr id="5" name="Tartalom helye 4" descr="A képen labda, Beltéri játékok és sportok, sport, Játékok látható&#10;&#10;Lehet, hogy az AI által létrehozott tartalom helytelen.">
            <a:extLst>
              <a:ext uri="{FF2B5EF4-FFF2-40B4-BE49-F238E27FC236}">
                <a16:creationId xmlns:a16="http://schemas.microsoft.com/office/drawing/2014/main" id="{E0345BE6-97BA-6328-2144-CC0F7633F38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t="7640" b="15205"/>
          <a:stretch>
            <a:fillRect/>
          </a:stretch>
        </p:blipFill>
        <p:spPr>
          <a:xfrm>
            <a:off x="4241830" y="601200"/>
            <a:ext cx="7503636" cy="57893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510703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7A9CE61-0075-A090-46DF-7C1EC055D7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Megvalósítás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086B0468-1FEF-CD29-3D09-D0AA9D9E51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Koncepció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3A92CF40-03E1-956E-4ADA-A292E4649515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marL="0" indent="0">
              <a:buNone/>
            </a:pPr>
            <a:r>
              <a:rPr lang="hu-HU" dirty="0"/>
              <a:t>cv2, </a:t>
            </a:r>
            <a:r>
              <a:rPr lang="hu-HU" dirty="0" err="1"/>
              <a:t>numpy</a:t>
            </a:r>
            <a:endParaRPr lang="hu-HU" dirty="0"/>
          </a:p>
          <a:p>
            <a:pPr marL="342900" indent="-342900">
              <a:buAutoNum type="arabicPeriod"/>
            </a:pPr>
            <a:r>
              <a:rPr lang="hu-HU" dirty="0" err="1"/>
              <a:t>Frame</a:t>
            </a:r>
            <a:r>
              <a:rPr lang="hu-HU" dirty="0"/>
              <a:t> normalizálása</a:t>
            </a:r>
          </a:p>
          <a:p>
            <a:pPr marL="342900" indent="-342900">
              <a:buAutoNum type="arabicPeriod"/>
            </a:pPr>
            <a:r>
              <a:rPr lang="hu-HU" dirty="0"/>
              <a:t>Labdák detektálása, </a:t>
            </a:r>
            <a:r>
              <a:rPr lang="hu-HU" i="1" dirty="0"/>
              <a:t>map</a:t>
            </a:r>
            <a:r>
              <a:rPr lang="hu-HU" dirty="0"/>
              <a:t>be gyűjtése</a:t>
            </a:r>
          </a:p>
          <a:p>
            <a:pPr marL="342900" indent="-342900">
              <a:buAutoNum type="arabicPeriod"/>
            </a:pPr>
            <a:r>
              <a:rPr lang="hu-HU" dirty="0"/>
              <a:t>Az előző </a:t>
            </a:r>
            <a:r>
              <a:rPr lang="hu-HU" dirty="0" err="1"/>
              <a:t>frame-hez</a:t>
            </a:r>
            <a:r>
              <a:rPr lang="hu-HU" dirty="0"/>
              <a:t> képest történő változások érzékelése</a:t>
            </a:r>
          </a:p>
          <a:p>
            <a:pPr marL="342900" indent="-342900">
              <a:buAutoNum type="arabicPeriod"/>
            </a:pPr>
            <a:r>
              <a:rPr lang="hu-HU" dirty="0"/>
              <a:t>Az észlelt változások alapján pontozás</a:t>
            </a:r>
          </a:p>
        </p:txBody>
      </p:sp>
      <p:pic>
        <p:nvPicPr>
          <p:cNvPr id="12" name="Tartalom helye 11" descr="A képen képernyőkép, asztal, Filc, Játékok látható&#10;&#10;Lehet, hogy az AI által létrehozott tartalom helytelen.">
            <a:extLst>
              <a:ext uri="{FF2B5EF4-FFF2-40B4-BE49-F238E27FC236}">
                <a16:creationId xmlns:a16="http://schemas.microsoft.com/office/drawing/2014/main" id="{5AC581F4-C15C-3EA1-AD05-C231E5A5560A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2"/>
          <a:srcRect t="6513" r="-210"/>
          <a:stretch>
            <a:fillRect/>
          </a:stretch>
        </p:blipFill>
        <p:spPr>
          <a:xfrm>
            <a:off x="7744093" y="122268"/>
            <a:ext cx="4073551" cy="2211483"/>
          </a:xfrm>
          <a:prstGeom prst="rect">
            <a:avLst/>
          </a:prstGeom>
        </p:spPr>
      </p:pic>
      <p:pic>
        <p:nvPicPr>
          <p:cNvPr id="13" name="Kép 12" descr="A képen asztal, biliárdasztal, Filc, Játékok látható&#10;&#10;Lehet, hogy az AI által létrehozott tartalom helytelen.">
            <a:extLst>
              <a:ext uri="{FF2B5EF4-FFF2-40B4-BE49-F238E27FC236}">
                <a16:creationId xmlns:a16="http://schemas.microsoft.com/office/drawing/2014/main" id="{B0312950-F1EB-A742-25B6-A2404B99722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75" t="6296" r="284" b="-370"/>
          <a:stretch>
            <a:fillRect/>
          </a:stretch>
        </p:blipFill>
        <p:spPr>
          <a:xfrm>
            <a:off x="7744094" y="2331650"/>
            <a:ext cx="4077692" cy="2204136"/>
          </a:xfrm>
          <a:prstGeom prst="rect">
            <a:avLst/>
          </a:prstGeom>
        </p:spPr>
      </p:pic>
      <p:pic>
        <p:nvPicPr>
          <p:cNvPr id="14" name="Kép 13" descr="A képen asztal, Játékok, Filc, Pihenőszoba látható&#10;&#10;Lehet, hogy az AI által létrehozott tartalom helytelen.">
            <a:extLst>
              <a:ext uri="{FF2B5EF4-FFF2-40B4-BE49-F238E27FC236}">
                <a16:creationId xmlns:a16="http://schemas.microsoft.com/office/drawing/2014/main" id="{EEFA49DB-4F3A-340C-FD63-3C5FC33C4EE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7906" y="4393065"/>
            <a:ext cx="4087587" cy="23064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601015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910015B9-6046-41B8-83BD-71778D2F97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hu-HU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3908232-52E2-4794-A6C1-54300FB989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hu-HU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2B9299F-BED7-44C5-9CC5-E542F9193C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hu-HU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0401440-1DC9-4C9E-A3BA-4DECEEB465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5" name="Tartalom helye 4" descr="A képen képernyőkép, fekete látható&#10;&#10;Lehet, hogy az AI által létrehozott tartalom helytelen.">
            <a:extLst>
              <a:ext uri="{FF2B5EF4-FFF2-40B4-BE49-F238E27FC236}">
                <a16:creationId xmlns:a16="http://schemas.microsoft.com/office/drawing/2014/main" id="{BC64E0EA-15B9-5BF7-9D39-036DB23E304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t="3429" b="171"/>
          <a:stretch>
            <a:fillRect/>
          </a:stretch>
        </p:blipFill>
        <p:spPr>
          <a:xfrm>
            <a:off x="441139" y="774965"/>
            <a:ext cx="5331481" cy="2968089"/>
          </a:xfrm>
          <a:prstGeom prst="rect">
            <a:avLst/>
          </a:prstGeom>
        </p:spPr>
      </p:pic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EEE3F140-02CB-4BBC-ABC0-8BF046C9D1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6096000" y="1436050"/>
            <a:ext cx="0" cy="1645920"/>
          </a:xfrm>
          <a:prstGeom prst="line">
            <a:avLst/>
          </a:prstGeom>
          <a:ln w="19050">
            <a:solidFill>
              <a:srgbClr val="46535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Kép 5" descr="A képen képernyőkép, fekete, sötétség, szöveg látható&#10;&#10;Lehet, hogy az AI által létrehozott tartalom helytelen.">
            <a:extLst>
              <a:ext uri="{FF2B5EF4-FFF2-40B4-BE49-F238E27FC236}">
                <a16:creationId xmlns:a16="http://schemas.microsoft.com/office/drawing/2014/main" id="{3455D18D-3879-84DA-DB51-40A85C81821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54" t="3395" r="-125" b="309"/>
          <a:stretch>
            <a:fillRect/>
          </a:stretch>
        </p:blipFill>
        <p:spPr>
          <a:xfrm>
            <a:off x="6417735" y="772811"/>
            <a:ext cx="5331478" cy="2972398"/>
          </a:xfrm>
          <a:prstGeom prst="rect">
            <a:avLst/>
          </a:prstGeom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36B822CC-7DA9-4417-AA94-64CEB676F0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7234" y="4219240"/>
            <a:ext cx="11301984" cy="94997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hu-HU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FA01E88-71CC-4FF3-9E81-51E0C32B45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7234" y="4359623"/>
            <a:ext cx="11303626" cy="2051143"/>
          </a:xfrm>
          <a:prstGeom prst="rect">
            <a:avLst/>
          </a:prstGeom>
          <a:solidFill>
            <a:srgbClr val="465359"/>
          </a:solidFill>
          <a:ln w="635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hu-HU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4576A28E-6C87-475B-1950-8C85360927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9600" y="4596992"/>
            <a:ext cx="3353432" cy="1607013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2800" b="0" kern="1200" cap="all">
                <a:latin typeface="+mj-lt"/>
                <a:ea typeface="+mj-ea"/>
                <a:cs typeface="+mj-cs"/>
              </a:rPr>
              <a:t>Szegmentálás </a:t>
            </a: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9A899203-4DA5-59B7-38AF-8F777D5D8A6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271491" y="4596992"/>
            <a:ext cx="7240909" cy="1607012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110000"/>
              </a:lnSpc>
            </a:pPr>
            <a:r>
              <a:rPr lang="en-US" err="1"/>
              <a:t>Nehézségek</a:t>
            </a:r>
            <a:r>
              <a:rPr lang="en-US" dirty="0"/>
              <a:t>:</a:t>
            </a:r>
            <a:endParaRPr lang="hu-HU" dirty="0"/>
          </a:p>
          <a:p>
            <a:pPr marL="285750" indent="-285750">
              <a:lnSpc>
                <a:spcPct val="110000"/>
              </a:lnSpc>
              <a:buFont typeface="Calibri" panose="05020102010507070707" pitchFamily="18" charset="2"/>
              <a:buChar char="-"/>
            </a:pPr>
            <a:r>
              <a:rPr lang="en-US" dirty="0"/>
              <a:t>Nem </a:t>
            </a:r>
            <a:r>
              <a:rPr lang="en-US" dirty="0" err="1"/>
              <a:t>egységes</a:t>
            </a:r>
            <a:r>
              <a:rPr lang="en-US" dirty="0"/>
              <a:t> </a:t>
            </a:r>
            <a:r>
              <a:rPr lang="en-US" dirty="0" err="1"/>
              <a:t>színkép</a:t>
            </a:r>
            <a:endParaRPr lang="en-US" dirty="0"/>
          </a:p>
          <a:p>
            <a:pPr marL="285750" indent="-285750">
              <a:lnSpc>
                <a:spcPct val="110000"/>
              </a:lnSpc>
              <a:buFont typeface="Calibri" panose="05020102010507070707" pitchFamily="18" charset="2"/>
              <a:buChar char="-"/>
            </a:pPr>
            <a:r>
              <a:rPr lang="en-US" dirty="0" err="1"/>
              <a:t>Benyúló</a:t>
            </a:r>
            <a:r>
              <a:rPr lang="en-US" dirty="0"/>
              <a:t> </a:t>
            </a:r>
            <a:r>
              <a:rPr lang="en-US" dirty="0" err="1"/>
              <a:t>kezek</a:t>
            </a:r>
            <a:endParaRPr lang="en-US" dirty="0"/>
          </a:p>
          <a:p>
            <a:pPr marL="285750" indent="-285750">
              <a:lnSpc>
                <a:spcPct val="110000"/>
              </a:lnSpc>
              <a:buFont typeface="Calibri" panose="05020102010507070707" pitchFamily="18" charset="2"/>
              <a:buChar char="-"/>
            </a:pPr>
            <a:r>
              <a:rPr lang="en-US" dirty="0"/>
              <a:t>Torz </a:t>
            </a:r>
            <a:r>
              <a:rPr lang="en-US" dirty="0" err="1"/>
              <a:t>kép</a:t>
            </a:r>
            <a:r>
              <a:rPr lang="en-US" dirty="0"/>
              <a:t> (</a:t>
            </a:r>
            <a:r>
              <a:rPr lang="en-US" dirty="0" err="1"/>
              <a:t>lencse</a:t>
            </a:r>
            <a:r>
              <a:rPr lang="en-US" dirty="0"/>
              <a:t> </a:t>
            </a:r>
            <a:r>
              <a:rPr lang="en-US" dirty="0" err="1"/>
              <a:t>effektus</a:t>
            </a:r>
            <a:r>
              <a:rPr lang="en-US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8416601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910015B9-6046-41B8-83BD-71778D2F97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hu-HU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3908232-52E2-4794-A6C1-54300FB989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hu-HU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2B9299F-BED7-44C5-9CC5-E542F9193C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hu-HU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9DDF273-E040-4765-AD05-872458E137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6534" y="3085764"/>
            <a:ext cx="11298932" cy="3338149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hu-HU"/>
          </a:p>
        </p:txBody>
      </p:sp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D6D7A0BC-0046-4CAA-8E7F-DCAFE511EA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A109E9D4-C144-1FC3-FEDE-ED8D7E7BC0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1" y="1020431"/>
            <a:ext cx="10993549" cy="1475013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3600"/>
              <a:t>A zöld szín, és egy lehetséges kiküszöbölés</a:t>
            </a:r>
          </a:p>
        </p:txBody>
      </p:sp>
      <p:sp>
        <p:nvSpPr>
          <p:cNvPr id="5" name="Szövegdoboz 4">
            <a:extLst>
              <a:ext uri="{FF2B5EF4-FFF2-40B4-BE49-F238E27FC236}">
                <a16:creationId xmlns:a16="http://schemas.microsoft.com/office/drawing/2014/main" id="{8A42F8CD-F2AA-EC6D-E967-A8E9353F048C}"/>
              </a:ext>
            </a:extLst>
          </p:cNvPr>
          <p:cNvSpPr txBox="1"/>
          <p:nvPr/>
        </p:nvSpPr>
        <p:spPr>
          <a:xfrm>
            <a:off x="581194" y="2495445"/>
            <a:ext cx="10993546" cy="468233"/>
          </a:xfrm>
          <a:prstGeom prst="rect">
            <a:avLst/>
          </a:prstGeom>
        </p:spPr>
        <p:txBody>
          <a:bodyPr rot="0" spcFirstLastPara="0" vertOverflow="overflow" horzOverflow="overflow" vert="horz" lIns="91440" tIns="45720" rIns="91440" bIns="45720" numCol="1" spcCol="0" rtlCol="0" fromWordArt="0" anchor="t" anchorCtr="0" forceAA="0" compatLnSpc="1">
            <a:prstTxWarp prst="textNoShape">
              <a:avLst/>
            </a:prstTxWarp>
            <a:normAutofit/>
          </a:bodyPr>
          <a:lstStyle/>
          <a:p>
            <a:pPr defTabSz="457200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92000"/>
            </a:pPr>
            <a:r>
              <a:rPr lang="en-US" sz="1600" cap="all">
                <a:solidFill>
                  <a:schemeClr val="accent1"/>
                </a:solidFill>
              </a:rPr>
              <a:t>Automatikus határérték-megállapítás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7C6334F-6411-41EC-AD7D-179EDD8B58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hu-HU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E6B02CEE-3AF8-4349-9B3E-8970E6DF62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hu-HU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AA01CF0-3FB5-44EB-B7DE-F2E86374C2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hu-HU"/>
          </a:p>
        </p:txBody>
      </p:sp>
      <p:pic>
        <p:nvPicPr>
          <p:cNvPr id="4" name="Tartalom helye 3" descr="A képen képernyőkép, Téglalap látható&#10;&#10;Lehet, hogy az AI által létrehozott tartalom helytelen.">
            <a:extLst>
              <a:ext uri="{FF2B5EF4-FFF2-40B4-BE49-F238E27FC236}">
                <a16:creationId xmlns:a16="http://schemas.microsoft.com/office/drawing/2014/main" id="{3B348F20-802C-54EE-4E75-1A75AC08716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48733" y="3139186"/>
            <a:ext cx="5486400" cy="3195828"/>
          </a:xfrm>
          <a:prstGeom prst="rect">
            <a:avLst/>
          </a:prstGeom>
        </p:spPr>
      </p:pic>
      <p:pic>
        <p:nvPicPr>
          <p:cNvPr id="6" name="Kép 5" descr="A képen szöveg, képernyőkép, Színesség, Betűtípus látható&#10;&#10;Lehet, hogy az AI által létrehozott tartalom helytelen.">
            <a:extLst>
              <a:ext uri="{FF2B5EF4-FFF2-40B4-BE49-F238E27FC236}">
                <a16:creationId xmlns:a16="http://schemas.microsoft.com/office/drawing/2014/main" id="{AE335F34-9CF1-8864-28C8-CAFDD9A081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6867" y="3378473"/>
            <a:ext cx="5486400" cy="27020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418118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318A89-65F9-ACE5-6BED-4717D40330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12860461-E856-E30D-A609-042C8FF15D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pontozás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1C76E898-C66C-C415-B38F-703B5B0AF63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81193" y="2037532"/>
            <a:ext cx="5194766" cy="2934999"/>
          </a:xfrm>
        </p:spPr>
        <p:txBody>
          <a:bodyPr>
            <a:normAutofit/>
          </a:bodyPr>
          <a:lstStyle/>
          <a:p>
            <a:r>
              <a:rPr lang="hu-HU" sz="1600" dirty="0"/>
              <a:t>Vizsgálni kell, hogy a labda beütése szabályos volt-e</a:t>
            </a:r>
          </a:p>
          <a:p>
            <a:r>
              <a:rPr lang="hu-HU" sz="1600" dirty="0"/>
              <a:t>Bizonyos labdák néha nincsenek érzékelve (barna) egy pár </a:t>
            </a:r>
            <a:r>
              <a:rPr lang="hu-HU" sz="1600" dirty="0" err="1"/>
              <a:t>frame-ig</a:t>
            </a:r>
            <a:endParaRPr lang="hu-HU" sz="1600" dirty="0"/>
          </a:p>
          <a:p>
            <a:r>
              <a:rPr lang="hu-HU" sz="1600" dirty="0" err="1"/>
              <a:t>Bufferek</a:t>
            </a:r>
            <a:r>
              <a:rPr lang="hu-HU" sz="1600" dirty="0"/>
              <a:t> alkalmazása</a:t>
            </a:r>
          </a:p>
          <a:p>
            <a:r>
              <a:rPr lang="hu-HU" sz="1600" dirty="0"/>
              <a:t>A jól érzékelhető golyóknál kisebb </a:t>
            </a:r>
            <a:r>
              <a:rPr lang="hu-HU" sz="1600" dirty="0" err="1"/>
              <a:t>buffer</a:t>
            </a:r>
            <a:r>
              <a:rPr lang="hu-HU" sz="1600" dirty="0"/>
              <a:t>, a rosszabbaknál nagyobb</a:t>
            </a:r>
          </a:p>
        </p:txBody>
      </p:sp>
      <p:pic>
        <p:nvPicPr>
          <p:cNvPr id="15" name="Kép 14">
            <a:extLst>
              <a:ext uri="{FF2B5EF4-FFF2-40B4-BE49-F238E27FC236}">
                <a16:creationId xmlns:a16="http://schemas.microsoft.com/office/drawing/2014/main" id="{B3665724-2EF9-F480-6401-391AC12713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1633" y="1717990"/>
            <a:ext cx="6650217" cy="34220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52148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5B978B-7258-A0A4-2D36-031DB12B29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7E90273-FF99-7359-13DE-9E0BC1B30B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Játékosok körváltása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9C9658DA-2D4C-4135-2CA5-95151A52ED8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81193" y="2037532"/>
            <a:ext cx="8085883" cy="2934999"/>
          </a:xfrm>
        </p:spPr>
        <p:txBody>
          <a:bodyPr>
            <a:normAutofit/>
          </a:bodyPr>
          <a:lstStyle/>
          <a:p>
            <a:pPr marL="305435" indent="-305435"/>
            <a:r>
              <a:rPr lang="hu-HU" sz="1600" dirty="0">
                <a:ea typeface="+mn-lt"/>
                <a:cs typeface="+mn-lt"/>
              </a:rPr>
              <a:t>Mozgásérzékelésen alapul, amely folyamatosan figyeli a golyók mozgását a képkockák közötti különbségek alapján</a:t>
            </a:r>
          </a:p>
          <a:p>
            <a:pPr marL="305435" indent="-305435"/>
            <a:r>
              <a:rPr lang="hu-HU" sz="1600" dirty="0">
                <a:ea typeface="+mn-lt"/>
                <a:cs typeface="+mn-lt"/>
              </a:rPr>
              <a:t>Szürkeárnyalatos képeket hasonlítunk össze egymással, ha a változás mértéke meghalad egy meghatározott küszöbértéket -&gt; mozgást detektál</a:t>
            </a:r>
          </a:p>
          <a:p>
            <a:pPr marL="305435" indent="-305435"/>
            <a:r>
              <a:rPr lang="hu-HU" sz="1600" dirty="0">
                <a:ea typeface="+mn-lt"/>
                <a:cs typeface="+mn-lt"/>
              </a:rPr>
              <a:t>Játékosváltás: ha 90 </a:t>
            </a:r>
            <a:r>
              <a:rPr lang="hu-HU" sz="1600" dirty="0" err="1">
                <a:ea typeface="+mn-lt"/>
                <a:cs typeface="+mn-lt"/>
              </a:rPr>
              <a:t>frame</a:t>
            </a:r>
            <a:r>
              <a:rPr lang="hu-HU" sz="1600" dirty="0">
                <a:ea typeface="+mn-lt"/>
                <a:cs typeface="+mn-lt"/>
              </a:rPr>
              <a:t>-n keresztül nincs mozgás (</a:t>
            </a:r>
            <a:r>
              <a:rPr lang="hu-HU" sz="1600" dirty="0" err="1">
                <a:ea typeface="+mn-lt"/>
                <a:cs typeface="+mn-lt"/>
              </a:rPr>
              <a:t>kb</a:t>
            </a:r>
            <a:r>
              <a:rPr lang="hu-HU" sz="1600" dirty="0">
                <a:ea typeface="+mn-lt"/>
                <a:cs typeface="+mn-lt"/>
              </a:rPr>
              <a:t> 3 másodperc) automatikusan körváltás</a:t>
            </a:r>
          </a:p>
          <a:p>
            <a:pPr marL="305435" indent="-305435"/>
            <a:r>
              <a:rPr lang="hu-HU" sz="1600" dirty="0">
                <a:ea typeface="+mn-lt"/>
                <a:cs typeface="+mn-lt"/>
              </a:rPr>
              <a:t>Sikeres beütés esetén a mozgásszámláló </a:t>
            </a:r>
            <a:r>
              <a:rPr lang="hu-HU" sz="1600" dirty="0" err="1">
                <a:ea typeface="+mn-lt"/>
                <a:cs typeface="+mn-lt"/>
              </a:rPr>
              <a:t>nullázódik</a:t>
            </a:r>
            <a:endParaRPr lang="hu-HU" sz="1600" dirty="0" err="1"/>
          </a:p>
        </p:txBody>
      </p:sp>
    </p:spTree>
    <p:extLst>
      <p:ext uri="{BB962C8B-B14F-4D97-AF65-F5344CB8AC3E}">
        <p14:creationId xmlns:p14="http://schemas.microsoft.com/office/powerpoint/2010/main" val="33256079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ím 1">
            <a:extLst>
              <a:ext uri="{FF2B5EF4-FFF2-40B4-BE49-F238E27FC236}">
                <a16:creationId xmlns:a16="http://schemas.microsoft.com/office/drawing/2014/main" id="{EF9BF6F0-1CD7-01FB-4A1F-DC78480B5FC6}"/>
              </a:ext>
            </a:extLst>
          </p:cNvPr>
          <p:cNvSpPr txBox="1">
            <a:spLocks/>
          </p:cNvSpPr>
          <p:nvPr/>
        </p:nvSpPr>
        <p:spPr>
          <a:xfrm>
            <a:off x="2884816" y="3123688"/>
            <a:ext cx="6422367" cy="610623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0" kern="1200" cap="all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hu-HU" dirty="0"/>
              <a:t>Köszönjük a figyelmet!</a:t>
            </a:r>
          </a:p>
        </p:txBody>
      </p:sp>
    </p:spTree>
    <p:extLst>
      <p:ext uri="{BB962C8B-B14F-4D97-AF65-F5344CB8AC3E}">
        <p14:creationId xmlns:p14="http://schemas.microsoft.com/office/powerpoint/2010/main" val="194421309"/>
      </p:ext>
    </p:extLst>
  </p:cSld>
  <p:clrMapOvr>
    <a:masterClrMapping/>
  </p:clrMapOvr>
</p:sld>
</file>

<file path=ppt/theme/theme1.xml><?xml version="1.0" encoding="utf-8"?>
<a:theme xmlns:a="http://schemas.openxmlformats.org/drawingml/2006/main" name="DividendVTI">
  <a:themeElements>
    <a:clrScheme name="DividendVTI">
      <a:dk1>
        <a:sysClr val="windowText" lastClr="000000"/>
      </a:dk1>
      <a:lt1>
        <a:sysClr val="window" lastClr="FFFFFF"/>
      </a:lt1>
      <a:dk2>
        <a:srgbClr val="3D3D3D"/>
      </a:dk2>
      <a:lt2>
        <a:srgbClr val="EBEBEB"/>
      </a:lt2>
      <a:accent1>
        <a:srgbClr val="ED8428"/>
      </a:accent1>
      <a:accent2>
        <a:srgbClr val="E6C46D"/>
      </a:accent2>
      <a:accent3>
        <a:srgbClr val="537685"/>
      </a:accent3>
      <a:accent4>
        <a:srgbClr val="969FA7"/>
      </a:accent4>
      <a:accent5>
        <a:srgbClr val="A9C37C"/>
      </a:accent5>
      <a:accent6>
        <a:srgbClr val="5A8071"/>
      </a:accent6>
      <a:hlink>
        <a:srgbClr val="828282"/>
      </a:hlink>
      <a:folHlink>
        <a:srgbClr val="A5A5A5"/>
      </a:folHlink>
    </a:clrScheme>
    <a:fontScheme name="Dividend">
      <a:majorFont>
        <a:latin typeface="Univers Condensed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Univers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VTI" id="{97558BDE-0B66-457C-BB6F-7B1B22DAA9B8}" vid="{F53508A3-AC60-448A-AF37-934D5F1A0D5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</TotalTime>
  <Words>173</Words>
  <Application>Microsoft Office PowerPoint</Application>
  <PresentationFormat>Szélesvásznú</PresentationFormat>
  <Paragraphs>31</Paragraphs>
  <Slides>8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5</vt:i4>
      </vt:variant>
      <vt:variant>
        <vt:lpstr>Téma</vt:lpstr>
      </vt:variant>
      <vt:variant>
        <vt:i4>1</vt:i4>
      </vt:variant>
      <vt:variant>
        <vt:lpstr>Diacímek</vt:lpstr>
      </vt:variant>
      <vt:variant>
        <vt:i4>8</vt:i4>
      </vt:variant>
    </vt:vector>
  </HeadingPairs>
  <TitlesOfParts>
    <vt:vector size="14" baseType="lpstr">
      <vt:lpstr>Calibri</vt:lpstr>
      <vt:lpstr>Gill Sans MT</vt:lpstr>
      <vt:lpstr>Univers</vt:lpstr>
      <vt:lpstr>Univers Condensed</vt:lpstr>
      <vt:lpstr>Wingdings 2</vt:lpstr>
      <vt:lpstr>DividendVTI</vt:lpstr>
      <vt:lpstr>Snooker</vt:lpstr>
      <vt:lpstr>A csapat szerveződése</vt:lpstr>
      <vt:lpstr>Megvalósítás</vt:lpstr>
      <vt:lpstr>Szegmentálás </vt:lpstr>
      <vt:lpstr>A zöld szín, és egy lehetséges kiküszöbölés</vt:lpstr>
      <vt:lpstr>pontozás</vt:lpstr>
      <vt:lpstr>Játékosok körváltása</vt:lpstr>
      <vt:lpstr>PowerPoint-bemutató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Attila Raucsik</cp:lastModifiedBy>
  <cp:revision>146</cp:revision>
  <dcterms:created xsi:type="dcterms:W3CDTF">2025-11-26T19:05:45Z</dcterms:created>
  <dcterms:modified xsi:type="dcterms:W3CDTF">2025-11-30T18:40:41Z</dcterms:modified>
</cp:coreProperties>
</file>