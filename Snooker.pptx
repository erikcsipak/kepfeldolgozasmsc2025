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EE699B-A6E6-48F5-B588-B3C25135AA30}" v="160" dt="2025-11-29T16:32:16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536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31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19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944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489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185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87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805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102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602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13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44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38620" y="863695"/>
            <a:ext cx="3511233" cy="3779995"/>
          </a:xfrm>
        </p:spPr>
        <p:txBody>
          <a:bodyPr anchor="ctr">
            <a:normAutofit/>
          </a:bodyPr>
          <a:lstStyle/>
          <a:p>
            <a:r>
              <a:rPr lang="hu-HU" dirty="0">
                <a:solidFill>
                  <a:schemeClr val="tx1"/>
                </a:solidFill>
              </a:rPr>
              <a:t>Snooker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38621" y="4739780"/>
            <a:ext cx="3511233" cy="1147054"/>
          </a:xfrm>
        </p:spPr>
        <p:txBody>
          <a:bodyPr anchor="t">
            <a:normAutofit fontScale="92500"/>
          </a:bodyPr>
          <a:lstStyle/>
          <a:p>
            <a:r>
              <a:rPr lang="hu-HU" sz="2200" dirty="0" err="1"/>
              <a:t>Csipak</a:t>
            </a:r>
            <a:r>
              <a:rPr lang="hu-HU" sz="2200" dirty="0"/>
              <a:t> Erik, </a:t>
            </a:r>
            <a:r>
              <a:rPr lang="hu-HU" sz="2200" dirty="0" err="1"/>
              <a:t>Raucsik</a:t>
            </a:r>
            <a:r>
              <a:rPr lang="hu-HU" sz="2200" dirty="0"/>
              <a:t> </a:t>
            </a:r>
            <a:r>
              <a:rPr lang="hu-HU" sz="2200" dirty="0" err="1"/>
              <a:t>attila</a:t>
            </a:r>
            <a:r>
              <a:rPr lang="hu-HU" sz="2200" dirty="0"/>
              <a:t>, Beszédes </a:t>
            </a:r>
            <a:r>
              <a:rPr lang="hu-HU" sz="2200" dirty="0" err="1"/>
              <a:t>bence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 descr="Spheres fehér effektus">
            <a:extLst>
              <a:ext uri="{FF2B5EF4-FFF2-40B4-BE49-F238E27FC236}">
                <a16:creationId xmlns:a16="http://schemas.microsoft.com/office/drawing/2014/main" id="{9D879D27-36DA-1D6F-7224-A8D725C3E6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95" r="-10" b="-10"/>
          <a:stretch>
            <a:fillRect/>
          </a:stretch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8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772EE4-ED5E-4D3A-A306-B22CF8667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601200"/>
            <a:ext cx="3703320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5A2370A-E440-3469-CA32-3FA7C74E8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80" y="944752"/>
            <a:ext cx="3259016" cy="146269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0" kern="1200" cap="all">
                <a:latin typeface="+mj-lt"/>
                <a:ea typeface="+mj-ea"/>
                <a:cs typeface="+mj-cs"/>
              </a:rPr>
              <a:t>A csapat szerveződése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058680-D07C-4893-B2B7-91543F18A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54A6FE-D8CB-48A3-900B-053D4EBD3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6BFE3D7-FC16-D94D-5558-D6B98768C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1513" y="2536031"/>
            <a:ext cx="3123783" cy="36719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5020102010507070707" pitchFamily="18" charset="2"/>
              <a:buChar char="-"/>
            </a:pPr>
            <a:r>
              <a:rPr lang="en-US" dirty="0" err="1"/>
              <a:t>Csipak</a:t>
            </a:r>
            <a:r>
              <a:rPr lang="en-US" dirty="0"/>
              <a:t> Erik - </a:t>
            </a:r>
            <a:r>
              <a:rPr lang="en-US" dirty="0" err="1"/>
              <a:t>Labdák</a:t>
            </a:r>
            <a:r>
              <a:rPr lang="en-US" dirty="0"/>
              <a:t> </a:t>
            </a:r>
            <a:r>
              <a:rPr lang="en-US" dirty="0" err="1"/>
              <a:t>szegmentálása</a:t>
            </a:r>
            <a:r>
              <a:rPr lang="en-US" dirty="0"/>
              <a:t>, </a:t>
            </a:r>
            <a:r>
              <a:rPr lang="en-US" dirty="0" err="1"/>
              <a:t>pozíciók</a:t>
            </a:r>
            <a:r>
              <a:rPr lang="en-US" dirty="0"/>
              <a:t> </a:t>
            </a:r>
            <a:r>
              <a:rPr lang="en-US" dirty="0" err="1"/>
              <a:t>mapbe</a:t>
            </a:r>
            <a:r>
              <a:rPr lang="en-US" dirty="0"/>
              <a:t> </a:t>
            </a:r>
            <a:r>
              <a:rPr lang="en-US" dirty="0" err="1"/>
              <a:t>gyűjtése</a:t>
            </a:r>
            <a:endParaRPr lang="hu-HU" dirty="0" err="1"/>
          </a:p>
          <a:p>
            <a:pPr marL="285750" indent="-285750">
              <a:buFont typeface="Calibri" panose="05020102010507070707" pitchFamily="18" charset="2"/>
              <a:buChar char="-"/>
            </a:pPr>
            <a:r>
              <a:rPr lang="en-US" dirty="0"/>
              <a:t>Raucsik Attila - </a:t>
            </a:r>
            <a:r>
              <a:rPr lang="hu-HU" dirty="0"/>
              <a:t>játékszabályok, pontozás megvalósítása</a:t>
            </a:r>
            <a:endParaRPr lang="en-US" dirty="0" err="1"/>
          </a:p>
          <a:p>
            <a:pPr marL="285750" indent="-285750">
              <a:buFont typeface="Calibri" panose="05020102010507070707" pitchFamily="18" charset="2"/>
              <a:buChar char="-"/>
            </a:pPr>
            <a:r>
              <a:rPr lang="en-US" dirty="0"/>
              <a:t>Beszédes Bence – </a:t>
            </a:r>
            <a:r>
              <a:rPr lang="en-US" dirty="0" err="1"/>
              <a:t>körváltás</a:t>
            </a:r>
            <a:r>
              <a:rPr lang="en-US" dirty="0"/>
              <a:t> </a:t>
            </a:r>
            <a:r>
              <a:rPr lang="en-US" dirty="0" err="1"/>
              <a:t>funkcionalitás</a:t>
            </a:r>
            <a:r>
              <a:rPr lang="en-US" dirty="0"/>
              <a:t> </a:t>
            </a:r>
            <a:r>
              <a:rPr lang="en-US" dirty="0" err="1"/>
              <a:t>megvalósítása</a:t>
            </a:r>
            <a:endParaRPr lang="en-US" i="1" dirty="0" err="1"/>
          </a:p>
        </p:txBody>
      </p:sp>
      <p:pic>
        <p:nvPicPr>
          <p:cNvPr id="5" name="Tartalom helye 4" descr="A képen labda, Beltéri játékok és sportok, sport, Játékok látható&#10;&#10;Lehet, hogy az AI által létrehozott tartalom helytelen.">
            <a:extLst>
              <a:ext uri="{FF2B5EF4-FFF2-40B4-BE49-F238E27FC236}">
                <a16:creationId xmlns:a16="http://schemas.microsoft.com/office/drawing/2014/main" id="{E0345BE6-97BA-6328-2144-CC0F7633F3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640" b="15205"/>
          <a:stretch>
            <a:fillRect/>
          </a:stretch>
        </p:blipFill>
        <p:spPr>
          <a:xfrm>
            <a:off x="4241830" y="601200"/>
            <a:ext cx="7503636" cy="578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107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A9CE61-0075-A090-46DF-7C1EC055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Megvalósítás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86B0468-1FEF-CD29-3D09-D0AA9D9E5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Koncepció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A92CF40-03E1-956E-4ADA-A292E46495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cv2, </a:t>
            </a:r>
            <a:r>
              <a:rPr lang="hu-HU" dirty="0" err="1"/>
              <a:t>numpy</a:t>
            </a:r>
            <a:endParaRPr lang="hu-HU" dirty="0"/>
          </a:p>
          <a:p>
            <a:pPr marL="342900" indent="-342900">
              <a:buAutoNum type="arabicPeriod"/>
            </a:pPr>
            <a:r>
              <a:rPr lang="hu-HU" dirty="0" err="1"/>
              <a:t>Frame</a:t>
            </a:r>
            <a:r>
              <a:rPr lang="hu-HU" dirty="0"/>
              <a:t> normalizálása</a:t>
            </a:r>
          </a:p>
          <a:p>
            <a:pPr marL="342900" indent="-342900">
              <a:buAutoNum type="arabicPeriod"/>
            </a:pPr>
            <a:r>
              <a:rPr lang="hu-HU" dirty="0"/>
              <a:t>Labdák detektálása, </a:t>
            </a:r>
            <a:r>
              <a:rPr lang="hu-HU" i="1" dirty="0"/>
              <a:t>map</a:t>
            </a:r>
            <a:r>
              <a:rPr lang="hu-HU" dirty="0"/>
              <a:t>be gyűjtése</a:t>
            </a:r>
          </a:p>
          <a:p>
            <a:pPr marL="342900" indent="-342900">
              <a:buAutoNum type="arabicPeriod"/>
            </a:pPr>
            <a:r>
              <a:rPr lang="hu-HU" dirty="0"/>
              <a:t>Az előző </a:t>
            </a:r>
            <a:r>
              <a:rPr lang="hu-HU" dirty="0" err="1"/>
              <a:t>frame-hez</a:t>
            </a:r>
            <a:r>
              <a:rPr lang="hu-HU" dirty="0"/>
              <a:t> képest történő változások érzékelése</a:t>
            </a:r>
          </a:p>
          <a:p>
            <a:pPr marL="342900" indent="-342900">
              <a:buAutoNum type="arabicPeriod"/>
            </a:pPr>
            <a:r>
              <a:rPr lang="hu-HU" dirty="0"/>
              <a:t>Az észlelt változások alapján pontozás</a:t>
            </a:r>
          </a:p>
        </p:txBody>
      </p:sp>
      <p:pic>
        <p:nvPicPr>
          <p:cNvPr id="12" name="Tartalom helye 11" descr="A képen képernyőkép, asztal, Filc, Játékok látható&#10;&#10;Lehet, hogy az AI által létrehozott tartalom helytelen.">
            <a:extLst>
              <a:ext uri="{FF2B5EF4-FFF2-40B4-BE49-F238E27FC236}">
                <a16:creationId xmlns:a16="http://schemas.microsoft.com/office/drawing/2014/main" id="{5AC581F4-C15C-3EA1-AD05-C231E5A5560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t="6513" r="-210"/>
          <a:stretch>
            <a:fillRect/>
          </a:stretch>
        </p:blipFill>
        <p:spPr>
          <a:xfrm>
            <a:off x="7744093" y="122268"/>
            <a:ext cx="4073551" cy="2211483"/>
          </a:xfrm>
          <a:prstGeom prst="rect">
            <a:avLst/>
          </a:prstGeom>
        </p:spPr>
      </p:pic>
      <p:pic>
        <p:nvPicPr>
          <p:cNvPr id="13" name="Kép 12" descr="A képen asztal, biliárdasztal, Filc, Játékok látható&#10;&#10;Lehet, hogy az AI által létrehozott tartalom helytelen.">
            <a:extLst>
              <a:ext uri="{FF2B5EF4-FFF2-40B4-BE49-F238E27FC236}">
                <a16:creationId xmlns:a16="http://schemas.microsoft.com/office/drawing/2014/main" id="{B0312950-F1EB-A742-25B6-A2404B99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5" t="6296" r="284" b="-370"/>
          <a:stretch>
            <a:fillRect/>
          </a:stretch>
        </p:blipFill>
        <p:spPr>
          <a:xfrm>
            <a:off x="7744094" y="2331650"/>
            <a:ext cx="4077692" cy="2204136"/>
          </a:xfrm>
          <a:prstGeom prst="rect">
            <a:avLst/>
          </a:prstGeom>
        </p:spPr>
      </p:pic>
      <p:pic>
        <p:nvPicPr>
          <p:cNvPr id="14" name="Kép 13" descr="A képen asztal, Játékok, Filc, Pihenőszoba látható&#10;&#10;Lehet, hogy az AI által létrehozott tartalom helytelen.">
            <a:extLst>
              <a:ext uri="{FF2B5EF4-FFF2-40B4-BE49-F238E27FC236}">
                <a16:creationId xmlns:a16="http://schemas.microsoft.com/office/drawing/2014/main" id="{EEFA49DB-4F3A-340C-FD63-3C5FC33C4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906" y="4393065"/>
            <a:ext cx="4087587" cy="230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10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10015B9-6046-41B8-83BD-71778D2F9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908232-52E2-4794-A6C1-54300FB98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9299F-BED7-44C5-9CC5-E542F919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Tartalom helye 4" descr="A képen képernyőkép, fekete látható&#10;&#10;Lehet, hogy az AI által létrehozott tartalom helytelen.">
            <a:extLst>
              <a:ext uri="{FF2B5EF4-FFF2-40B4-BE49-F238E27FC236}">
                <a16:creationId xmlns:a16="http://schemas.microsoft.com/office/drawing/2014/main" id="{BC64E0EA-15B9-5BF7-9D39-036DB23E3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429" b="171"/>
          <a:stretch>
            <a:fillRect/>
          </a:stretch>
        </p:blipFill>
        <p:spPr>
          <a:xfrm>
            <a:off x="441139" y="774965"/>
            <a:ext cx="5331481" cy="29680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E3F140-02CB-4BBC-ABC0-8BF046C9D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436050"/>
            <a:ext cx="0" cy="1645920"/>
          </a:xfrm>
          <a:prstGeom prst="line">
            <a:avLst/>
          </a:prstGeom>
          <a:ln w="19050">
            <a:solidFill>
              <a:srgbClr val="4653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Kép 5" descr="A képen képernyőkép, fekete, sötétség, szöveg látható&#10;&#10;Lehet, hogy az AI által létrehozott tartalom helytelen.">
            <a:extLst>
              <a:ext uri="{FF2B5EF4-FFF2-40B4-BE49-F238E27FC236}">
                <a16:creationId xmlns:a16="http://schemas.microsoft.com/office/drawing/2014/main" id="{3455D18D-3879-84DA-DB51-40A85C8182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4" t="3395" r="-125" b="309"/>
          <a:stretch>
            <a:fillRect/>
          </a:stretch>
        </p:blipFill>
        <p:spPr>
          <a:xfrm>
            <a:off x="6417735" y="772811"/>
            <a:ext cx="5331478" cy="297239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59623"/>
            <a:ext cx="11303626" cy="2051143"/>
          </a:xfrm>
          <a:prstGeom prst="rect">
            <a:avLst/>
          </a:prstGeom>
          <a:solidFill>
            <a:srgbClr val="465359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576A28E-6C87-475B-1950-8C8536092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00" y="4596992"/>
            <a:ext cx="3353432" cy="16070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0" kern="1200" cap="all">
                <a:latin typeface="+mj-lt"/>
                <a:ea typeface="+mj-ea"/>
                <a:cs typeface="+mj-cs"/>
              </a:rPr>
              <a:t>Szegmentálás 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A899203-4DA5-59B7-38AF-8F777D5D8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71491" y="4596992"/>
            <a:ext cx="7240909" cy="16070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err="1"/>
              <a:t>Nehézségek</a:t>
            </a:r>
            <a:r>
              <a:rPr lang="en-US" dirty="0"/>
              <a:t>:</a:t>
            </a:r>
            <a:endParaRPr lang="hu-HU" dirty="0"/>
          </a:p>
          <a:p>
            <a:pPr marL="285750" indent="-285750">
              <a:lnSpc>
                <a:spcPct val="110000"/>
              </a:lnSpc>
              <a:buFont typeface="Calibri" panose="05020102010507070707" pitchFamily="18" charset="2"/>
              <a:buChar char="-"/>
            </a:pPr>
            <a:r>
              <a:rPr lang="en-US" dirty="0"/>
              <a:t>Nem </a:t>
            </a:r>
            <a:r>
              <a:rPr lang="en-US" dirty="0" err="1"/>
              <a:t>egységes</a:t>
            </a:r>
            <a:r>
              <a:rPr lang="en-US" dirty="0"/>
              <a:t> </a:t>
            </a:r>
            <a:r>
              <a:rPr lang="en-US" dirty="0" err="1"/>
              <a:t>színkép</a:t>
            </a:r>
            <a:endParaRPr lang="en-US" dirty="0"/>
          </a:p>
          <a:p>
            <a:pPr marL="285750" indent="-285750">
              <a:lnSpc>
                <a:spcPct val="110000"/>
              </a:lnSpc>
              <a:buFont typeface="Calibri" panose="05020102010507070707" pitchFamily="18" charset="2"/>
              <a:buChar char="-"/>
            </a:pPr>
            <a:r>
              <a:rPr lang="en-US" dirty="0" err="1"/>
              <a:t>Benyúló</a:t>
            </a:r>
            <a:r>
              <a:rPr lang="en-US" dirty="0"/>
              <a:t> </a:t>
            </a:r>
            <a:r>
              <a:rPr lang="en-US" dirty="0" err="1"/>
              <a:t>kezek</a:t>
            </a:r>
            <a:endParaRPr lang="en-US" dirty="0"/>
          </a:p>
          <a:p>
            <a:pPr marL="285750" indent="-285750">
              <a:lnSpc>
                <a:spcPct val="110000"/>
              </a:lnSpc>
              <a:buFont typeface="Calibri" panose="05020102010507070707" pitchFamily="18" charset="2"/>
              <a:buChar char="-"/>
            </a:pPr>
            <a:r>
              <a:rPr lang="en-US" dirty="0"/>
              <a:t>Torz </a:t>
            </a:r>
            <a:r>
              <a:rPr lang="en-US" dirty="0" err="1"/>
              <a:t>kép</a:t>
            </a:r>
            <a:r>
              <a:rPr lang="en-US" dirty="0"/>
              <a:t> (</a:t>
            </a:r>
            <a:r>
              <a:rPr lang="en-US" dirty="0" err="1"/>
              <a:t>lencse</a:t>
            </a:r>
            <a:r>
              <a:rPr lang="en-US" dirty="0"/>
              <a:t> </a:t>
            </a:r>
            <a:r>
              <a:rPr lang="en-US" dirty="0" err="1"/>
              <a:t>effektus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41660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10015B9-6046-41B8-83BD-71778D2F9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908232-52E2-4794-A6C1-54300FB98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9299F-BED7-44C5-9CC5-E542F919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DDF273-E040-4765-AD05-872458E13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109E9D4-C144-1FC3-FEDE-ED8D7E7BC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1020431"/>
            <a:ext cx="10993549" cy="14750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A zöld szín, és egy lehetséges kiküszöbölés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8A42F8CD-F2AA-EC6D-E967-A8E9353F048C}"/>
              </a:ext>
            </a:extLst>
          </p:cNvPr>
          <p:cNvSpPr txBox="1"/>
          <p:nvPr/>
        </p:nvSpPr>
        <p:spPr>
          <a:xfrm>
            <a:off x="581194" y="2495445"/>
            <a:ext cx="10993546" cy="46823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r>
              <a:rPr lang="en-US" sz="1600" cap="all">
                <a:solidFill>
                  <a:schemeClr val="accent1"/>
                </a:solidFill>
              </a:rPr>
              <a:t>Automatikus határérték-megállapítás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4" name="Tartalom helye 3" descr="A képen képernyőkép, Téglalap látható&#10;&#10;Lehet, hogy az AI által létrehozott tartalom helytelen.">
            <a:extLst>
              <a:ext uri="{FF2B5EF4-FFF2-40B4-BE49-F238E27FC236}">
                <a16:creationId xmlns:a16="http://schemas.microsoft.com/office/drawing/2014/main" id="{3B348F20-802C-54EE-4E75-1A75AC087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733" y="3139186"/>
            <a:ext cx="5486400" cy="3195828"/>
          </a:xfrm>
          <a:prstGeom prst="rect">
            <a:avLst/>
          </a:prstGeom>
        </p:spPr>
      </p:pic>
      <p:pic>
        <p:nvPicPr>
          <p:cNvPr id="6" name="Kép 5" descr="A képen szöveg, képernyőkép, Színesség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AE335F34-9CF1-8864-28C8-CAFDD9A08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7" y="3378473"/>
            <a:ext cx="5486400" cy="270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181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18A89-65F9-ACE5-6BED-4717D4033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860461-E856-E30D-A609-042C8FF15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pontozás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C76E898-C66C-C415-B38F-703B5B0AF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3" y="2037532"/>
            <a:ext cx="5194766" cy="2934999"/>
          </a:xfrm>
        </p:spPr>
        <p:txBody>
          <a:bodyPr>
            <a:normAutofit/>
          </a:bodyPr>
          <a:lstStyle/>
          <a:p>
            <a:r>
              <a:rPr lang="hu-HU" sz="1600" dirty="0"/>
              <a:t>Vizsgálni kell, hogy a labda beütése szabályos volt-e</a:t>
            </a:r>
          </a:p>
          <a:p>
            <a:r>
              <a:rPr lang="hu-HU" sz="1600" dirty="0"/>
              <a:t>Bizonyos labdák néha nincsenek érzékelve (barna) egy pár </a:t>
            </a:r>
            <a:r>
              <a:rPr lang="hu-HU" sz="1600" dirty="0" err="1"/>
              <a:t>frame-ig</a:t>
            </a:r>
            <a:endParaRPr lang="hu-HU" sz="1600" dirty="0"/>
          </a:p>
          <a:p>
            <a:r>
              <a:rPr lang="hu-HU" sz="1600" dirty="0" err="1"/>
              <a:t>Bufferek</a:t>
            </a:r>
            <a:r>
              <a:rPr lang="hu-HU" sz="1600" dirty="0"/>
              <a:t> alkalmazása</a:t>
            </a:r>
          </a:p>
          <a:p>
            <a:r>
              <a:rPr lang="hu-HU" sz="1600" dirty="0"/>
              <a:t>A jól érzékelhető golyóknál kisebb </a:t>
            </a:r>
            <a:r>
              <a:rPr lang="hu-HU" sz="1600" dirty="0" err="1"/>
              <a:t>buffer</a:t>
            </a:r>
            <a:r>
              <a:rPr lang="hu-HU" sz="1600" dirty="0"/>
              <a:t>, a rosszabbaknál nagyobb</a:t>
            </a: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B3665724-2EF9-F480-6401-391AC1271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633" y="1717990"/>
            <a:ext cx="6650217" cy="342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14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B978B-7258-A0A4-2D36-031DB12B2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E90273-FF99-7359-13DE-9E0BC1B30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Játékosok körváltása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C9658DA-2D4C-4135-2CA5-95151A52E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3" y="2037532"/>
            <a:ext cx="8085883" cy="2934999"/>
          </a:xfrm>
        </p:spPr>
        <p:txBody>
          <a:bodyPr>
            <a:normAutofit/>
          </a:bodyPr>
          <a:lstStyle/>
          <a:p>
            <a:pPr marL="305435" indent="-305435"/>
            <a:r>
              <a:rPr lang="hu-HU" sz="1600" dirty="0">
                <a:ea typeface="+mn-lt"/>
                <a:cs typeface="+mn-lt"/>
              </a:rPr>
              <a:t>Mozgásérzékelésen alapul, amely folyamatosan figyeli a golyók mozgását a képkockák közötti különbségek alapján</a:t>
            </a:r>
          </a:p>
          <a:p>
            <a:pPr marL="305435" indent="-305435"/>
            <a:r>
              <a:rPr lang="hu-HU" sz="1600" dirty="0">
                <a:ea typeface="+mn-lt"/>
                <a:cs typeface="+mn-lt"/>
              </a:rPr>
              <a:t>Szürkeárnyalatos képeket hasonlítunk össze egymással, ha a változás mértéke meghalad egy meghatározott küszöbértéket -&gt; mozgást detektál</a:t>
            </a:r>
          </a:p>
          <a:p>
            <a:pPr marL="305435" indent="-305435"/>
            <a:r>
              <a:rPr lang="hu-HU" sz="1600" dirty="0">
                <a:ea typeface="+mn-lt"/>
                <a:cs typeface="+mn-lt"/>
              </a:rPr>
              <a:t>Játékosváltás: ha 90 </a:t>
            </a:r>
            <a:r>
              <a:rPr lang="hu-HU" sz="1600" dirty="0" err="1">
                <a:ea typeface="+mn-lt"/>
                <a:cs typeface="+mn-lt"/>
              </a:rPr>
              <a:t>frame</a:t>
            </a:r>
            <a:r>
              <a:rPr lang="hu-HU" sz="1600" dirty="0">
                <a:ea typeface="+mn-lt"/>
                <a:cs typeface="+mn-lt"/>
              </a:rPr>
              <a:t>-n keresztül nincs mozgás (</a:t>
            </a:r>
            <a:r>
              <a:rPr lang="hu-HU" sz="1600" dirty="0" err="1">
                <a:ea typeface="+mn-lt"/>
                <a:cs typeface="+mn-lt"/>
              </a:rPr>
              <a:t>kb</a:t>
            </a:r>
            <a:r>
              <a:rPr lang="hu-HU" sz="1600" dirty="0">
                <a:ea typeface="+mn-lt"/>
                <a:cs typeface="+mn-lt"/>
              </a:rPr>
              <a:t> 3 másodperc) automatikusan körváltás</a:t>
            </a:r>
          </a:p>
          <a:p>
            <a:pPr marL="305435" indent="-305435"/>
            <a:r>
              <a:rPr lang="hu-HU" sz="1600" dirty="0">
                <a:ea typeface="+mn-lt"/>
                <a:cs typeface="+mn-lt"/>
              </a:rPr>
              <a:t>Sikeres beütés esetén a mozgásszámláló </a:t>
            </a:r>
            <a:r>
              <a:rPr lang="hu-HU" sz="1600" dirty="0" err="1">
                <a:ea typeface="+mn-lt"/>
                <a:cs typeface="+mn-lt"/>
              </a:rPr>
              <a:t>nullázódik</a:t>
            </a:r>
            <a:endParaRPr lang="hu-HU" sz="1600" dirty="0" err="1"/>
          </a:p>
        </p:txBody>
      </p:sp>
    </p:spTree>
    <p:extLst>
      <p:ext uri="{BB962C8B-B14F-4D97-AF65-F5344CB8AC3E}">
        <p14:creationId xmlns:p14="http://schemas.microsoft.com/office/powerpoint/2010/main" val="3325607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E84A3881-7F2F-EA6B-1357-C3B946A10C0B}"/>
              </a:ext>
            </a:extLst>
          </p:cNvPr>
          <p:cNvSpPr txBox="1"/>
          <p:nvPr/>
        </p:nvSpPr>
        <p:spPr>
          <a:xfrm>
            <a:off x="4724400" y="324394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i="1" dirty="0"/>
              <a:t>Ide folytasd...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442130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Univers Condensed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Univers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117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DividendVTI</vt:lpstr>
      <vt:lpstr>Snooker</vt:lpstr>
      <vt:lpstr>A csapat szerveződése</vt:lpstr>
      <vt:lpstr>Megvalósítás</vt:lpstr>
      <vt:lpstr>Szegmentálás </vt:lpstr>
      <vt:lpstr>A zöld szín, és egy lehetséges kiküszöbölés</vt:lpstr>
      <vt:lpstr>pontozás</vt:lpstr>
      <vt:lpstr>Játékosok körváltása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Attila Raucsik</cp:lastModifiedBy>
  <cp:revision>145</cp:revision>
  <dcterms:created xsi:type="dcterms:W3CDTF">2025-11-26T19:05:45Z</dcterms:created>
  <dcterms:modified xsi:type="dcterms:W3CDTF">2025-11-29T16:32:33Z</dcterms:modified>
</cp:coreProperties>
</file>